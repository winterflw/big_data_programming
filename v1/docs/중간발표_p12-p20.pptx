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p12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현재까지 구현한 모델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ML 베이스 2 + DL 베이스 + 통제 1 + 제안 2 + 부가 = 6+1 라인업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292608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ML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하한선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+ Logistic Regression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+ SVM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103120"/>
            <a:ext cx="73152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0088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DL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90088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XAI 진단 기준점 (A_B)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90088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BERT-base + MLP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768차원 [CLS] → 분류 헤드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65776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65776" y="2103120"/>
            <a:ext cx="73152" cy="292608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4376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모델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94376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VADER ablation 통제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94376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+ MLP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VADER 없이 동일 헤드 구조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70064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0064" y="2103120"/>
            <a:ext cx="73152" cy="292608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98664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모델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598664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기법 결합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98664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+ VADER + MLP (D_B)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RoBERTa + VADER + MLP (D_R)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74352" y="2103120"/>
            <a:ext cx="2194560" cy="29260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74352" y="2103120"/>
            <a:ext cx="73152" cy="29260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02952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02952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 기여도 분리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902952" y="3108960"/>
            <a:ext cx="1920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Freeze Study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동결 + MLP만 학습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394960"/>
            <a:ext cx="11247120" cy="82296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시사점: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transformer 조건에서 분류 헤드(MLP)를 통일하여 ablation 변수 통제. 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VADER 유무는 입력 차원만 차이(768d ↔ 772d)로 두 기법의 효과를 분리 측정 가능.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p13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이유 및 학습 방법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기반 full fine-tuning + 모델 입력은 텍스트만 (메타는 supervision)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선정 근거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(Devlin 2019)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혐오 탐지 우수 성능 (ACM SE 2024) + SHAP DeepExplainer 호환 + EDA에서 텍스트 임베딩 필요성 입증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RoBERTa (Liu 2019)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사전학습 절차 최적화 → 강건성 검증용 두 번째 사전학습 모델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VADER (Hutto &amp; Gilbert 2014)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Cheng (2022, Virginia Tech) 선행연구 기반 사전 가설로 도입 — XAI 진단 결과 X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4114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방식 (전이학습 명세)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5212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— Full Fine-Tuning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bert-base-uncased 사전학습 가중치 로드 → [CLS] 위에 MLP 분류 헤드 부착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Transformer layer 전체 + 분류 헤드 동시 업데이트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 — Feature Extraction (Freeze Study)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가중치 동결 (requires_grad=False)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[CLS] 768d 임베딩만 추출 + 상단 MLP만 학습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fine-tuning 기여도 정량 분리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629107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입력 단일 소스 원칙: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텍스트(post_tokens)만 입력. rationale·target·source·agreement는 학습 supervision 또는 분석으로만 사용 → 추론 시 텍스트만 주어져도 동작. VADER 4d는 텍스트 파생 피처이므로 본 원칙 부합.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p14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 설정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통제를 위한 단일 hyperparameter 셋, B_B 조건에서 α 최적값 결정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4008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6517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Optimizer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AdamW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weight decay 0.01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Learning Rate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2e-5 (튜닝 1e-5~5e-5)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FT 표준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Batch Size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 (튜닝 16/32)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M3 Max MPS 메모리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Epochs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early stop on val Macro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Warmup ratio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 (linear)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lr 안정화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Dropout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과적합 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Max seq len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트윗 길이 분포 기반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42, 123, 7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3회 반복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Class weight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balanced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sklearn compute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132320" y="2011680"/>
            <a:ext cx="4572000" cy="22860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0" y="21488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손실 함수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0" y="25603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L_total = L_cls + α·L_attn (+ β·L_target)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0" y="310896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L_cls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CrossEntropy, class_weight balanced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L_attn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BCE(CLS attention, rationale_mask) — 토큰 단위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L_target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BCE(aux_logits, target multilabel) — D_B 부가만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132320" y="4434840"/>
            <a:ext cx="4572000" cy="169164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4526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그리드 서치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315200" y="4864608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α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∈ {0.0, 0.1, 0.3, 0.5, 0.7, 1.0}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B_B 조건에서 val Macro F1 최적값 결정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D_B / B_R / D_R 동일 적용 (변수 통제)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β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∈ {0.0, 0.1, 0.3} — D_B 부가 실험만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조건에 동일 hyperparameter 셋을 적용해 단일 변수만 변경하는 ablation 통제 원칙을 유지한다.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p15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구현 과정 + Freeze Study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6모듈 구조 유지, 듀얼 헤드 + Freeze 통제로 fine-tuning 기여도 분리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20116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6모듈 구조 (CLAUDE.md 준수)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experiment_core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데이터, 모델, 학습 루프, 벤치마크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experiment_eda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탐색적 데이터 분석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experiment_xai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SHAP, LIME, CI, IS, MSS, Rollout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experiment_dashboard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HTML 대시보드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utils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시드, 평가, 시각화, 통계 검정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run_experiments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CLI 엔트리 (run.sh가 호출)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160520"/>
            <a:ext cx="5486400" cy="20116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519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듀얼 헤드 구조 (D_B 부가 실험만)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617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[CLS] ⊕ VADER → MLP(772→256→ReLU) → 분기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Head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Linear(256, 3) → 3-class hate/offensive/normal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Aux Head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Linear(256, T_target) → target multi-label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시 Main Head만 활성화 (텍스트만 입력)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5486400" cy="416052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Freeze Study — fine-tuning 기여도 분리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56032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9202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Full FT (메인)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Freeze (통제)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가중치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업데이트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동결 (frozen)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 대상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 layer + 헤드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 헤드만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표현 학습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task-specific 재학습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그대로 사용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기대 효과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표현 + 헤드 동시 최적화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표현 평가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00800" y="44348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메모: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재현성 — torch/numpy/random seed 고정.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MPS 제약 — SHAP은 CPU only 강제. </a:t>
            </a:r>
            <a:pPr indent="0" marL="0">
              <a:buNone/>
            </a:pPr>
            <a:r>
              <a:rPr lang="en-US" sz="1000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Slur-Masking augmentation 미사용, source/agreement 입력 X.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Freeze 통제군과 비교하여 'fine-tuning이 분류 성능에 기여하는 정도'를 정량 분리 측정한다.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p16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설계한 실험 방법 — 8조건 풀 Ablation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2×2 (Attn × VADER) × 2 (BERT/RoBERTa) = 8조건 + Freeze + L_target 부가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 패밀리 (4조건)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Attn 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+ MLP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C_B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+ VADER + MLP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Attn 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B_B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A_B + Attn Loss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둘 다 결합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93D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1792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RoBERTa 패밀리 (4조건, 동일 구조)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331720"/>
          <a:ext cx="54864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VADER 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B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Attn X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C_R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Attn 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B_R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사전학습 강건성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793D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297680"/>
            <a:ext cx="5486400" cy="1828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389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 통제 + 통계 검정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4736592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시드/분할/하이퍼파라미터 동일 → 단일 변수만 변경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반복 (seed 42, 123, 7) 평균 ± std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24회 학습 + Freeze + L_target 부가 ≈ 30~60시간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Two-way ANOVA(BERT) + 3-way ANOVA(BERT/RoBERTa × Attn × VADER)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Paired t-test (3 seed), 유의수준 p &lt; 0.05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4297680"/>
            <a:ext cx="5486400" cy="182880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0" y="4389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기법의 개입 층위 (직교성)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0" y="4736592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Loss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학습 손실층 개입 (rationale 정렬)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VADER concat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 입력층 개입 (감성 결합)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다른 층위 개입이므로 </a:t>
            </a:r>
            <a:pPr indent="0" marL="0">
              <a:spcAft>
                <a:spcPts val="200"/>
              </a:spcAft>
              <a:buNone/>
            </a:pPr>
            <a:r>
              <a:rPr lang="en-US" sz="1100" b="1" i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주효과 + 상호작용 효과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분리 측정 가능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8조건 풀 ablation으로 두 기법의 주효과·상호작용·사전학습 모델 강건성을 동시 검증한다.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p17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모델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수준 — 전통 ML(성능 하한선) + DL(XAI 진단 기준점)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91440" cy="41148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 1 — 전통 ML 베이스라인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하한선 / 사전학습 효과 분리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+ Logistic Regression</a:t>
            </a:r>
            <a:endParaRPr lang="en-US" sz="12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scikit-learn 구현, 처음부터 학습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TF-IDF + SVM (Linear)</a:t>
            </a:r>
            <a:endParaRPr lang="en-US" sz="12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데이터·split, 표면 어휘 패턴 의존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전처리: 소문자 변환 + 불용어 제거 + 어간 추출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미사용 — 사전학습 효과의 baseline 비교용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011680"/>
            <a:ext cx="5486400" cy="4114800"/>
          </a:xfrm>
          <a:prstGeom prst="rect">
            <a:avLst/>
          </a:prstGeom>
          <a:solidFill>
            <a:srgbClr val="F0DCC0"/>
          </a:solidFill>
          <a:ln w="6350">
            <a:solidFill>
              <a:srgbClr val="D479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011680"/>
            <a:ext cx="91440" cy="411480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48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 2 — DL 베이스라인 (A_B)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XAI 진단 기준점 / 개선 실험의 기준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BERT-base + MLP (A_B)</a:t>
            </a:r>
            <a:endParaRPr lang="en-US" sz="12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bert-base-uncased + Linear(768→256→3)</a:t>
            </a:r>
            <a:endParaRPr lang="en-US" sz="1200" dirty="0"/>
          </a:p>
          <a:p>
            <a:pPr marL="254000" indent="-254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전이학습 기반 full fine-tuning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 진단 기준 (단어 의존 검증)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ΔF1 측정 기준점 (B_B/C_B/D_B 비교)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결과 baseline: Macro F1 0.6822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ML과 DL 베이스라인 모두 동일 데이터·시드·split으로 공정 비교 (변수 통제 원칙).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p18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평가 지표 — 분류 + XAI 4축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다각 평가로 단일 지표 의존 회피 / 자동 메트릭 중심 (인간 라벨 의존 최소화)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5486400" cy="12801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031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성능 (Classification)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0DC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Macro F1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(주 지표, 클래스 불균형 공정),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Precision/Recall, Confusion Matrix,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Subgroup F1 (target/source 별)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2743200" cy="237744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2011680"/>
            <a:ext cx="64008" cy="23774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103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Attribution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토큰을 보는가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309360" y="29260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SHAP (GradientExplainer, 500 stratified/조건)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LIME (섭동 500회)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 (sanity check)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0936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Lundberg 2017 / Ribeiro 2016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61120" y="2011680"/>
            <a:ext cx="2743200" cy="237744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2011680"/>
            <a:ext cx="64008" cy="237744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2103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0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Faithfulness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모델-attribution 충실성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0" y="29260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Comprehensiveness ↑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Sufficiency ↓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MSS (그리디 search, τ=0.8)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0" y="41148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DeYoung 2020 ERASER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4480560"/>
            <a:ext cx="2743200" cy="237744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480560"/>
            <a:ext cx="64008" cy="237744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4773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Learning 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학습 정량화 (인간 의존 0)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5394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(Gini 분포 집중도)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 (Shapley interaction, 50쌍×200)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 Rollout (entropy)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6583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Gini 1912 / Lundberg 2020 / Abnar 2020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961120" y="4480560"/>
            <a:ext cx="2743200" cy="237744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1120" y="4480560"/>
            <a:ext cx="64008" cy="23774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45720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44000" y="47731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Plausibility (보조)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4400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rationale 부합도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144000" y="5394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F1 vs human_mask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IOU vs human_mask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top {10, 20, 30}%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144000" y="6583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Mathew 2021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" y="3429000"/>
            <a:ext cx="5486400" cy="26974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520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지표 + 정성 분석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388620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Cross-method Consistency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Overlap@5: SHAP top-5 vs LIME top-5 일치율</a:t>
            </a:r>
            <a:endParaRPr lang="en-US" sz="1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attribution 방법의 안정성 검증 (단일 신뢰도 지표 X)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4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정성 분석 (illustration 전용)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Slur-Free Prediction 사례 5~10건</a:t>
            </a:r>
            <a:endParaRPr lang="en-US" sz="1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비하어 마스킹 후 예측 변화 정성 비교</a:t>
            </a:r>
            <a:endParaRPr lang="en-US" sz="1000" dirty="0"/>
          </a:p>
          <a:p>
            <a:pPr marL="254000" indent="-254000">
              <a:spcAft>
                <a:spcPts val="200"/>
              </a:spcAft>
              <a:buSzPct val="100000"/>
              <a:buChar char="•"/>
            </a:pPr>
            <a:r>
              <a:rPr lang="en-US" sz="1000" i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정량 지표 X — 발표 사례용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4축 다축 일관성 = H3 통과 기준. 단일 지표 의존을 회피하고 모델 내부 동역학을 다각 검증.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p19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베이스라인 vs 제안 모델 — 실험 결과 비교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8조건 ablation 결과 (예비 결과, 발표 시점에 갱신 예정)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65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결과 — BERT 패밀리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5943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Macro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 from A_B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p-value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A_B (베이스)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B_B (+Attn)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C_B (+VADER)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D_B (둘 다)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67512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강건성 — RoBERTa 패밀리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331720"/>
          <a:ext cx="50292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Macro 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BERT 일관?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B_R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 / ×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C_R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 / ×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D_R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 / ×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4526280"/>
            <a:ext cx="11247120" cy="155448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4617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분해 (Two-way ANOVA, BERT 패밀리)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498348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Attn 주효과: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(B_B − A_B + D_B − C_B) / 2 = +0.___ (p=0.___)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VADER 주효과: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(C_B − A_B + D_B − B_B) / 2 = +0.___ (p=0.___)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상호작용 효과: 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(D_B − C_B) − (B_B − A_B) = +0.___ → 시너지 / 독립 / 상쇄 중 하나로 결론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" y="629107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발표 시점 결과 미확보 시 "예비 결과"로 표기. 최종 결과는 Phase 4 통합 분석에서 갱신.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p20 /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0" y="274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맥락을 함께 학습하는 혐오표현 탐지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성능 분석 결과 + 해석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H1~H4 가설 검증 상태 + 자동 XAI 다축 일관성으로 H3 판정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71600" cy="36576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2743200" cy="21945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solidFill>
            <a:srgbClr val="4A6B8A"/>
          </a:solidFill>
          <a:ln w="12700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  ·  진단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베이스 BERT는 단어에 과의존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A_B SHAP 상위 토큰에 비하어 집중 + CI 높음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4A6B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예정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91840" y="2011680"/>
            <a:ext cx="2743200" cy="21945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2011680"/>
            <a:ext cx="2743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 ·  분류 향상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+ 맥락 결합으로 ΔF1 &gt; 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방법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D_B vs A_B paired t-test, RoBERTa 일관성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예정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2011680"/>
            <a:ext cx="2743200" cy="21945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2011680"/>
            <a:ext cx="2743200" cy="457200"/>
          </a:xfrm>
          <a:prstGeom prst="rect">
            <a:avLst/>
          </a:prstGeom>
          <a:solidFill>
            <a:srgbClr val="D4793D"/>
          </a:solidFill>
          <a:ln w="12700">
            <a:solidFill>
              <a:srgbClr val="D479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  ·  맥락 학습 입증 ⭐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단어 신호 유지 + 맥락 추가 학습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0936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D_B의 CI ↓, IS ↑, MSS ↑ 동시 통계 유의 + RoBERTa 일관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예정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61120" y="2011680"/>
            <a:ext cx="2743200" cy="2194560"/>
          </a:xfrm>
          <a:prstGeom prst="rect">
            <a:avLst/>
          </a:prstGeom>
          <a:solidFill>
            <a:srgbClr val="FAF9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2011680"/>
            <a:ext cx="2743200" cy="4572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H4  ·  보조 (multi-task)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L_target → hate↔offensive 분리 향상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3108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방법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4400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D_B with/without L_target 비교 + Subgroup 균등성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144000" y="39319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예정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해석 매트릭스 (Context Learning 차원, H3 판정 기준)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80060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53035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MSS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A_B (베이스)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 높음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↓ 약함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↓ 작음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4A6B8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의존 (H1 진단)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D_B (개선)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↓ 낮음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 강함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↑ 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i="1" dirty="0">
                          <a:solidFill>
                            <a:srgbClr val="D4793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단어 유지 + 맥락 추가 (H3 입증)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CC0"/>
                    </a:solidFill>
                  </a:tcPr>
                </a:tc>
              </a:tr>
            </a:tbl>
          </a:graphicData>
        </a:graphic>
      </p:graphicFrame>
      <p:sp>
        <p:nvSpPr>
          <p:cNvPr id="38" name="Text 35"/>
          <p:cNvSpPr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79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다축 일관성 = H3 통과 기준. 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Faithfulness(축 2)는 attribution 충실성으로 별도 보고 — 맥락 학습과 직접 연결 X. 부분 통과 시 어떤 축에서 미흡한지 솔직히 명시.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맥락 이해 기반 혐오표현 탐지 개선 — 중간발표 p12~p20</dc:title>
  <dc:subject>PptxGenJS Presentation</dc:subject>
  <dc:creator>올에이프로젝트</dc:creator>
  <cp:lastModifiedBy>올에이프로젝트</cp:lastModifiedBy>
  <cp:revision>1</cp:revision>
  <dcterms:created xsi:type="dcterms:W3CDTF">2026-05-03T00:41:04Z</dcterms:created>
  <dcterms:modified xsi:type="dcterms:W3CDTF">2026-05-03T00:41:04Z</dcterms:modified>
</cp:coreProperties>
</file>